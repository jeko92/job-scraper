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IBM Plex Sans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IBM Plex Sans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E95F641-3FF1-4262-90CD-129D90DE1D2C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Welcome. Today we walk through three areas: the data side (what we found and modelled), how we organised ourselves, and the code we have running so far.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9D35D01-5795-48CD-B9CE-0B17D480EC5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Three blocks today: Data, Organization, Code.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DEA478F-0A86-40A4-BD92-30FA767C6A0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Our proof of concept follows the Hunt and Gather stage of the roadmap: start from the job seeker's field, find companies, widen the net to competitors, then crawl each company's own site and store findings in a structured, timestamped way.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7362EAB-C251-4497-9522-AAD99213687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Show both endpoints live if possible. Explain what each one gives us and how it feeds the companies and locations tables.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AFDC38B-EDD9-4D2D-BC8A-105E6150D46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12 tables in three groups. The key idea: job seekers and companies share the same skills, industries and locations tables, so matching becomes a join. user_skills carries level and years of experience; user_industries carries a priority.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FAE74FD-8AE6-4DDD-9394-C134A77DD41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Every piece of work starts as a GitHub ticket. Templates keep issues and PRs consistent. Commits follow Conventional Commits and CI lints PR titles. Feature branches merge into develop; develop is released to main via a release PR. Each PR needs three approvals.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A966BD8-9ED7-4EDE-B6C2-0DBF6BD1A4B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pnpm workspaces plus Turborepo. Shared TypeScript, ESLint and Prettier configs live in packages. Architecture decisions are recorded as ADRs in doc/adr. A pre-commit hook formats and lints staged files; pnpm check runs lint, typecheck, test and format.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2FDC290-1092-4385-AA27-ADF8D92CD78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Frontend is a thin Next.js layer that only calls the backend (ADR-002). It's already deployed to Vercel — show the live URL. Backend is a NestJS skeleton running locally; all business logic, persistence, scraping and auth will live there.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CF95235-9B29-4299-A8DA-03ABA1221DC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Close with next sprint goals, then open for questions and feedback.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6AEBADE-5D06-40F6-8BD2-8D49DBF5F49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body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812880" y="1127880"/>
            <a:ext cx="1056600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3600" b="0" u="none" strike="noStrike">
                <a:solidFill>
                  <a:schemeClr val="dk1"/>
                </a:solidFill>
                <a:effectLst/>
                <a:uFillTx/>
                <a:latin typeface="IBM Plex Sans"/>
              </a:defRPr>
            </a:lvl1pPr>
          </a:lstStyle>
          <a:p>
            <a:pPr indent="0" algn="l">
              <a:buNone/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IBM Plex Sans"/>
              </a:rPr>
              <a:t>Click to edit the title text format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IBM Plex San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812880" y="1935360"/>
            <a:ext cx="10566000" cy="4109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IBM Plex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IBM Plex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IBM Plex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IBM Plex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IBM Plex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IBM Plex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IBM Plex Sans"/>
              </a:defRPr>
            </a:lvl7pPr>
          </a:lstStyle>
          <a:p>
            <a: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IBM Plex Sans"/>
              </a:rPr>
              <a:t>Click to edit the outline text format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IBM Plex Sans"/>
            </a:endParaRPr>
          </a:p>
          <a:p>
            <a:pPr marL="743040" lvl="1" indent="-28584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IBM Plex Sans"/>
              </a:rPr>
              <a:t>Second Outline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IBM Plex Sans"/>
            </a:endParaRPr>
          </a:p>
          <a:p>
            <a:pPr marL="11430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IBM Plex Sans"/>
              </a:rPr>
              <a:t>Third Outline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IBM Plex Sans"/>
            </a:endParaRPr>
          </a:p>
          <a:p>
            <a:pPr marL="16002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IBM Plex Sans"/>
              </a:rPr>
              <a:t>Fourth Outline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IBM Plex Sans"/>
            </a:endParaRPr>
          </a:p>
          <a:p>
            <a:pPr marL="20574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IBM Plex Sans"/>
              </a:rPr>
              <a:t>Fifth Outline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IBM Plex Sans"/>
            </a:endParaRPr>
          </a:p>
          <a:p>
            <a:pPr marL="25146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IBM Plex Sans"/>
              </a:rPr>
              <a:t>Sixth Outline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IBM Plex Sans"/>
            </a:endParaRPr>
          </a:p>
          <a:p>
            <a:pPr marL="29718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IBM Plex Sans"/>
              </a:rPr>
              <a:t>Seventh Outline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IBM Plex Sans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3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0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0" descr="ellipse"/>
          <p:cNvPicPr/>
          <p:nvPr/>
        </p:nvPicPr>
        <p:blipFill>
          <a:blip r:embed="rId1"/>
          <a:stretch/>
        </p:blipFill>
        <p:spPr>
          <a:xfrm>
            <a:off x="7873920" y="0"/>
            <a:ext cx="5714640" cy="5714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" name="Image 1" descr="ellipse"/>
          <p:cNvPicPr/>
          <p:nvPr/>
        </p:nvPicPr>
        <p:blipFill>
          <a:blip r:embed="rId2"/>
          <a:stretch/>
        </p:blipFill>
        <p:spPr>
          <a:xfrm>
            <a:off x="9651960" y="3936960"/>
            <a:ext cx="2031480" cy="2031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0" u="none" spc="201" strike="noStrike">
                <a:solidFill>
                  <a:srgbClr val="E07A3F"/>
                </a:solidFill>
                <a:effectLst/>
                <a:uFillTx/>
                <a:latin typeface="JetBrains Mono"/>
                <a:ea typeface="JetBrains Mono"/>
              </a:rPr>
              <a:t>SPRINT REVIEW · SPRINT 1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812880" y="2637720"/>
            <a:ext cx="7848360" cy="1041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7999"/>
              </a:lnSpc>
              <a:buNone/>
              <a:tabLst>
                <a:tab pos="0" algn="l"/>
              </a:tabLst>
            </a:pPr>
            <a:r>
              <a:rPr lang="en-US" sz="8000" b="1" u="none" spc="-201" strike="noStrike">
                <a:solidFill>
                  <a:srgbClr val="F7F5F0"/>
                </a:solidFill>
                <a:effectLst/>
                <a:uFillTx/>
                <a:latin typeface="Space Grotesk"/>
                <a:ea typeface="Space Grotesk"/>
              </a:rPr>
              <a:t>JobScraper</a:t>
            </a:r>
            <a:endParaRPr lang="en-US" sz="8000" b="0" u="none" strike="noStrike">
              <a:solidFill>
                <a:schemeClr val="dk1"/>
              </a:solidFill>
              <a:effectLst/>
              <a:uFillTx/>
              <a:latin typeface="IBM Plex Sans"/>
            </a:endParaRPr>
          </a:p>
        </p:txBody>
      </p:sp>
      <p:sp>
        <p:nvSpPr>
          <p:cNvPr id="14" name="Text 2"/>
          <p:cNvSpPr/>
          <p:nvPr/>
        </p:nvSpPr>
        <p:spPr>
          <a:xfrm>
            <a:off x="812880" y="3857040"/>
            <a:ext cx="7848360" cy="38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86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BFC9DC"/>
                </a:solidFill>
                <a:effectLst/>
                <a:uFillTx/>
                <a:latin typeface="IBM Plex Sans"/>
                <a:ea typeface="IBM Plex Sans"/>
              </a:rPr>
              <a:t>AI-assisted job sourcing, straight from company websites.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3"/>
          <p:cNvSpPr/>
          <p:nvPr/>
        </p:nvSpPr>
        <p:spPr>
          <a:xfrm>
            <a:off x="812880" y="579636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BFC9DC"/>
                </a:solidFill>
                <a:effectLst/>
                <a:uFillTx/>
                <a:latin typeface="IBM Plex Sans"/>
                <a:ea typeface="IBM Plex Sans"/>
              </a:rPr>
              <a:t>neuefische bootcamp team · 09.10.2026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0"/>
          <p:cNvSpPr/>
          <p:nvPr/>
        </p:nvSpPr>
        <p:spPr>
          <a:xfrm>
            <a:off x="812880" y="812880"/>
            <a:ext cx="108831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pc="150" strike="noStrike">
                <a:solidFill>
                  <a:srgbClr val="B85A24"/>
                </a:solidFill>
                <a:effectLst/>
                <a:uFillTx/>
                <a:latin typeface="JetBrains Mono"/>
                <a:ea typeface="JetBrains Mono"/>
              </a:rPr>
              <a:t>AGENDA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12880" y="1127880"/>
            <a:ext cx="10883160" cy="52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96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rgbClr val="14213D"/>
                </a:solidFill>
                <a:effectLst/>
                <a:uFillTx/>
                <a:latin typeface="Space Grotesk"/>
                <a:ea typeface="Space Grotesk"/>
              </a:rPr>
              <a:t>What we did this sprint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IBM Plex Sans"/>
            </a:endParaRPr>
          </a:p>
        </p:txBody>
      </p:sp>
      <p:sp>
        <p:nvSpPr>
          <p:cNvPr id="18" name="Shape 2"/>
          <p:cNvSpPr/>
          <p:nvPr/>
        </p:nvSpPr>
        <p:spPr>
          <a:xfrm>
            <a:off x="816120" y="2090880"/>
            <a:ext cx="3346200" cy="395064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6350">
            <a:solidFill>
              <a:srgbClr val="E2DE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3"/>
          <p:cNvSpPr/>
          <p:nvPr/>
        </p:nvSpPr>
        <p:spPr>
          <a:xfrm>
            <a:off x="1123920" y="2399040"/>
            <a:ext cx="2811960" cy="78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6001"/>
              </a:lnSpc>
              <a:tabLst>
                <a:tab pos="0" algn="l"/>
              </a:tabLst>
            </a:pPr>
            <a:r>
              <a:rPr lang="en-US" sz="6000" b="1" u="none" strike="noStrike">
                <a:solidFill>
                  <a:srgbClr val="E07A3F"/>
                </a:solidFill>
                <a:effectLst/>
                <a:uFillTx/>
                <a:latin typeface="Space Grotesk"/>
                <a:ea typeface="Space Grotesk"/>
              </a:rPr>
              <a:t>01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4"/>
          <p:cNvSpPr/>
          <p:nvPr/>
        </p:nvSpPr>
        <p:spPr>
          <a:xfrm>
            <a:off x="1123920" y="3313440"/>
            <a:ext cx="281196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639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4213D"/>
                </a:solidFill>
                <a:effectLst/>
                <a:uFillTx/>
                <a:latin typeface="Space Grotesk"/>
                <a:ea typeface="Space Grotesk"/>
              </a:rPr>
              <a:t>Data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5"/>
          <p:cNvSpPr/>
          <p:nvPr/>
        </p:nvSpPr>
        <p:spPr>
          <a:xfrm>
            <a:off x="1123920" y="3800880"/>
            <a:ext cx="28119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85000" lnSpcReduction="9999"/>
          </a:bodyPr>
          <a:p>
            <a:pPr defTabSz="914400">
              <a:lnSpc>
                <a:spcPts val="2239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A5568"/>
                </a:solidFill>
                <a:effectLst/>
                <a:uFillTx/>
                <a:latin typeface="IBM Plex Sans"/>
                <a:ea typeface="IBM Plex Sans"/>
              </a:rPr>
              <a:t>Endpoints, ER diagram, proof of concept through case studies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6"/>
          <p:cNvSpPr/>
          <p:nvPr/>
        </p:nvSpPr>
        <p:spPr>
          <a:xfrm>
            <a:off x="4422600" y="2090880"/>
            <a:ext cx="3346200" cy="395064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6350">
            <a:solidFill>
              <a:srgbClr val="E2DE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7"/>
          <p:cNvSpPr/>
          <p:nvPr/>
        </p:nvSpPr>
        <p:spPr>
          <a:xfrm>
            <a:off x="4730760" y="2399040"/>
            <a:ext cx="2811960" cy="78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6001"/>
              </a:lnSpc>
              <a:tabLst>
                <a:tab pos="0" algn="l"/>
              </a:tabLst>
            </a:pPr>
            <a:r>
              <a:rPr lang="en-US" sz="6000" b="1" u="none" strike="noStrike">
                <a:solidFill>
                  <a:srgbClr val="3A6EA5"/>
                </a:solidFill>
                <a:effectLst/>
                <a:uFillTx/>
                <a:latin typeface="Space Grotesk"/>
                <a:ea typeface="Space Grotesk"/>
              </a:rPr>
              <a:t>02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8"/>
          <p:cNvSpPr/>
          <p:nvPr/>
        </p:nvSpPr>
        <p:spPr>
          <a:xfrm>
            <a:off x="4730760" y="3313440"/>
            <a:ext cx="281196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639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4213D"/>
                </a:solidFill>
                <a:effectLst/>
                <a:uFillTx/>
                <a:latin typeface="Space Grotesk"/>
                <a:ea typeface="Space Grotesk"/>
              </a:rPr>
              <a:t>Organization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9"/>
          <p:cNvSpPr/>
          <p:nvPr/>
        </p:nvSpPr>
        <p:spPr>
          <a:xfrm>
            <a:off x="4730760" y="3800880"/>
            <a:ext cx="28119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239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A5568"/>
                </a:solidFill>
                <a:effectLst/>
                <a:uFillTx/>
                <a:latin typeface="IBM Plex Sans"/>
                <a:ea typeface="IBM Plex Sans"/>
              </a:rPr>
              <a:t>Tickets, templates and conventions on GitHub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10"/>
          <p:cNvSpPr/>
          <p:nvPr/>
        </p:nvSpPr>
        <p:spPr>
          <a:xfrm>
            <a:off x="8029440" y="2090880"/>
            <a:ext cx="3346200" cy="395064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6350">
            <a:solidFill>
              <a:srgbClr val="E2DE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1"/>
          <p:cNvSpPr/>
          <p:nvPr/>
        </p:nvSpPr>
        <p:spPr>
          <a:xfrm>
            <a:off x="8337600" y="2399040"/>
            <a:ext cx="2811960" cy="78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6001"/>
              </a:lnSpc>
              <a:tabLst>
                <a:tab pos="0" algn="l"/>
              </a:tabLst>
            </a:pPr>
            <a:r>
              <a:rPr lang="en-US" sz="6000" b="1" u="none" strike="noStrike">
                <a:solidFill>
                  <a:srgbClr val="14213D"/>
                </a:solidFill>
                <a:effectLst/>
                <a:uFillTx/>
                <a:latin typeface="Space Grotesk"/>
                <a:ea typeface="Space Grotesk"/>
              </a:rPr>
              <a:t>03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2"/>
          <p:cNvSpPr/>
          <p:nvPr/>
        </p:nvSpPr>
        <p:spPr>
          <a:xfrm>
            <a:off x="8337600" y="3313440"/>
            <a:ext cx="281196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639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4213D"/>
                </a:solidFill>
                <a:effectLst/>
                <a:uFillTx/>
                <a:latin typeface="Space Grotesk"/>
                <a:ea typeface="Space Grotesk"/>
              </a:rPr>
              <a:t>Code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3"/>
          <p:cNvSpPr/>
          <p:nvPr/>
        </p:nvSpPr>
        <p:spPr>
          <a:xfrm>
            <a:off x="8337600" y="3800880"/>
            <a:ext cx="28119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92500" lnSpcReduction="9999"/>
          </a:bodyPr>
          <a:p>
            <a:pPr defTabSz="914400">
              <a:lnSpc>
                <a:spcPts val="2239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A5568"/>
                </a:solidFill>
                <a:effectLst/>
                <a:uFillTx/>
                <a:latin typeface="IBM Plex Sans"/>
                <a:ea typeface="IBM Plex Sans"/>
              </a:rPr>
              <a:t>Monorepo, frontend on Vercel and backend on Render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0"/>
          <p:cNvSpPr/>
          <p:nvPr/>
        </p:nvSpPr>
        <p:spPr>
          <a:xfrm>
            <a:off x="812880" y="812880"/>
            <a:ext cx="108831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pc="150" strike="noStrike">
                <a:solidFill>
                  <a:srgbClr val="B85A24"/>
                </a:solidFill>
                <a:effectLst/>
                <a:uFillTx/>
                <a:latin typeface="JetBrains Mono"/>
                <a:ea typeface="JetBrains Mono"/>
              </a:rPr>
              <a:t>01 · DATA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12880" y="1127880"/>
            <a:ext cx="10883160" cy="52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96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rgbClr val="14213D"/>
                </a:solidFill>
                <a:effectLst/>
                <a:uFillTx/>
                <a:latin typeface="Space Grotesk"/>
                <a:ea typeface="Space Grotesk"/>
              </a:rPr>
              <a:t>Our Proof of Concept (in progress)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IBM Plex Sans"/>
            </a:endParaRPr>
          </a:p>
        </p:txBody>
      </p:sp>
      <p:sp>
        <p:nvSpPr>
          <p:cNvPr id="32" name="Shape 2"/>
          <p:cNvSpPr/>
          <p:nvPr/>
        </p:nvSpPr>
        <p:spPr>
          <a:xfrm>
            <a:off x="816120" y="2286000"/>
            <a:ext cx="2180880" cy="2057400"/>
          </a:xfrm>
          <a:prstGeom prst="roundRect">
            <a:avLst>
              <a:gd name="adj" fmla="val 5613"/>
            </a:avLst>
          </a:prstGeom>
          <a:solidFill>
            <a:srgbClr val="FFFFFF"/>
          </a:solidFill>
          <a:ln w="6350">
            <a:solidFill>
              <a:srgbClr val="E2DE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3"/>
          <p:cNvSpPr/>
          <p:nvPr/>
        </p:nvSpPr>
        <p:spPr>
          <a:xfrm>
            <a:off x="1073160" y="2651400"/>
            <a:ext cx="1717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07A3F"/>
                </a:solidFill>
                <a:effectLst/>
                <a:uFillTx/>
                <a:latin typeface="JetBrains Mono"/>
                <a:ea typeface="JetBrains Mono"/>
              </a:rPr>
              <a:t>STAGE 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4"/>
          <p:cNvSpPr/>
          <p:nvPr/>
        </p:nvSpPr>
        <p:spPr>
          <a:xfrm>
            <a:off x="1073160" y="3027240"/>
            <a:ext cx="1717200" cy="29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85000" lnSpcReduction="9999"/>
          </a:bodyPr>
          <a:p>
            <a:pPr defTabSz="914400">
              <a:lnSpc>
                <a:spcPts val="216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4213D"/>
                </a:solidFill>
                <a:effectLst/>
                <a:uFillTx/>
                <a:latin typeface="Space Grotesk"/>
                <a:ea typeface="Space Grotesk"/>
              </a:rPr>
              <a:t>Pick a parameters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5"/>
          <p:cNvSpPr/>
          <p:nvPr/>
        </p:nvSpPr>
        <p:spPr>
          <a:xfrm>
            <a:off x="1073160" y="3428640"/>
            <a:ext cx="1717200" cy="48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82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A5568"/>
                </a:solidFill>
                <a:effectLst/>
                <a:uFillTx/>
                <a:latin typeface="IBM Plex Sans"/>
                <a:ea typeface="IBM Plex Sans"/>
              </a:rPr>
              <a:t>Industry or skills from a job seeker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" name="Image 0" descr="arrow-right"/>
          <p:cNvPicPr/>
          <p:nvPr/>
        </p:nvPicPr>
        <p:blipFill>
          <a:blip r:embed="rId1"/>
          <a:stretch/>
        </p:blipFill>
        <p:spPr>
          <a:xfrm>
            <a:off x="3127320" y="3169440"/>
            <a:ext cx="355320" cy="202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" name="Shape 6"/>
          <p:cNvSpPr/>
          <p:nvPr/>
        </p:nvSpPr>
        <p:spPr>
          <a:xfrm>
            <a:off x="3613320" y="2141640"/>
            <a:ext cx="2180880" cy="2258640"/>
          </a:xfrm>
          <a:prstGeom prst="roundRect">
            <a:avLst>
              <a:gd name="adj" fmla="val 4512"/>
            </a:avLst>
          </a:prstGeom>
          <a:solidFill>
            <a:srgbClr val="FFFFFF"/>
          </a:solidFill>
          <a:ln w="6350">
            <a:solidFill>
              <a:srgbClr val="E2DE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7"/>
          <p:cNvSpPr/>
          <p:nvPr/>
        </p:nvSpPr>
        <p:spPr>
          <a:xfrm>
            <a:off x="3870360" y="2399040"/>
            <a:ext cx="1717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07A3F"/>
                </a:solidFill>
                <a:effectLst/>
                <a:uFillTx/>
                <a:latin typeface="JetBrains Mono"/>
                <a:ea typeface="JetBrains Mono"/>
              </a:rPr>
              <a:t>STAGE 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8"/>
          <p:cNvSpPr/>
          <p:nvPr/>
        </p:nvSpPr>
        <p:spPr>
          <a:xfrm>
            <a:off x="3870360" y="2774880"/>
            <a:ext cx="1717200" cy="57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16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4213D"/>
                </a:solidFill>
                <a:effectLst/>
                <a:uFillTx/>
                <a:latin typeface="Space Grotesk"/>
                <a:ea typeface="Space Grotesk"/>
              </a:rPr>
              <a:t>Find companies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9"/>
          <p:cNvSpPr/>
          <p:nvPr/>
        </p:nvSpPr>
        <p:spPr>
          <a:xfrm>
            <a:off x="3870360" y="3450240"/>
            <a:ext cx="1717200" cy="71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82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A5568"/>
                </a:solidFill>
                <a:effectLst/>
                <a:uFillTx/>
                <a:latin typeface="IBM Plex Sans"/>
                <a:ea typeface="IBM Plex Sans"/>
              </a:rPr>
              <a:t>Searches for companies in that field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1" name="Image 1" descr="arrow-right"/>
          <p:cNvPicPr/>
          <p:nvPr/>
        </p:nvPicPr>
        <p:blipFill>
          <a:blip r:embed="rId2"/>
          <a:stretch/>
        </p:blipFill>
        <p:spPr>
          <a:xfrm>
            <a:off x="5924520" y="3169440"/>
            <a:ext cx="355320" cy="202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" name="Shape 10"/>
          <p:cNvSpPr/>
          <p:nvPr/>
        </p:nvSpPr>
        <p:spPr>
          <a:xfrm>
            <a:off x="6410160" y="2278800"/>
            <a:ext cx="2180880" cy="1984320"/>
          </a:xfrm>
          <a:prstGeom prst="roundRect">
            <a:avLst>
              <a:gd name="adj" fmla="val 4959"/>
            </a:avLst>
          </a:prstGeom>
          <a:solidFill>
            <a:srgbClr val="666666"/>
          </a:solidFill>
          <a:ln w="6350">
            <a:solidFill>
              <a:srgbClr val="E2DE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1"/>
          <p:cNvSpPr/>
          <p:nvPr/>
        </p:nvSpPr>
        <p:spPr>
          <a:xfrm>
            <a:off x="6667560" y="2536200"/>
            <a:ext cx="1717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07A3F"/>
                </a:solidFill>
                <a:effectLst/>
                <a:uFillTx/>
                <a:latin typeface="JetBrains Mono"/>
                <a:ea typeface="JetBrains Mono"/>
              </a:rPr>
              <a:t>STAGE 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2"/>
          <p:cNvSpPr/>
          <p:nvPr/>
        </p:nvSpPr>
        <p:spPr>
          <a:xfrm>
            <a:off x="6667560" y="2912040"/>
            <a:ext cx="1717200" cy="29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16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Space Grotesk"/>
                <a:ea typeface="Space Grotesk"/>
              </a:rPr>
              <a:t>Expand search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3"/>
          <p:cNvSpPr/>
          <p:nvPr/>
        </p:nvSpPr>
        <p:spPr>
          <a:xfrm>
            <a:off x="6667560" y="3313080"/>
            <a:ext cx="1717200" cy="71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82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B4C7DC"/>
                </a:solidFill>
                <a:effectLst/>
                <a:uFillTx/>
                <a:latin typeface="IBM Plex Sans"/>
                <a:ea typeface="IBM Plex Sans"/>
              </a:rPr>
              <a:t>Add neighbouring companies and competitors</a:t>
            </a:r>
            <a:endParaRPr lang="en-US" sz="1300" b="0" u="none" strike="noStrike">
              <a:solidFill>
                <a:srgbClr val="B4C7DC"/>
              </a:solidFill>
              <a:effectLst/>
              <a:uFillTx/>
              <a:latin typeface="Arial"/>
            </a:endParaRPr>
          </a:p>
        </p:txBody>
      </p:sp>
      <p:pic>
        <p:nvPicPr>
          <p:cNvPr id="46" name="Image 2" descr="arrow-right"/>
          <p:cNvPicPr/>
          <p:nvPr/>
        </p:nvPicPr>
        <p:blipFill>
          <a:blip r:embed="rId3"/>
          <a:stretch/>
        </p:blipFill>
        <p:spPr>
          <a:xfrm>
            <a:off x="8721720" y="3169440"/>
            <a:ext cx="355320" cy="202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" name="Shape 14"/>
          <p:cNvSpPr/>
          <p:nvPr/>
        </p:nvSpPr>
        <p:spPr>
          <a:xfrm>
            <a:off x="9204480" y="2144880"/>
            <a:ext cx="2174400" cy="2252160"/>
          </a:xfrm>
          <a:prstGeom prst="roundRect">
            <a:avLst>
              <a:gd name="adj" fmla="val 4672"/>
            </a:avLst>
          </a:prstGeom>
          <a:solidFill>
            <a:srgbClr val="6666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5"/>
          <p:cNvSpPr/>
          <p:nvPr/>
        </p:nvSpPr>
        <p:spPr>
          <a:xfrm>
            <a:off x="9458280" y="2399040"/>
            <a:ext cx="1717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07A3F"/>
                </a:solidFill>
                <a:effectLst/>
                <a:uFillTx/>
                <a:latin typeface="JetBrains Mono"/>
                <a:ea typeface="JetBrains Mono"/>
              </a:rPr>
              <a:t>STAGE 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6"/>
          <p:cNvSpPr/>
          <p:nvPr/>
        </p:nvSpPr>
        <p:spPr>
          <a:xfrm>
            <a:off x="9458280" y="2774880"/>
            <a:ext cx="1717200" cy="57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16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7F5F0"/>
                </a:solidFill>
                <a:effectLst/>
                <a:uFillTx/>
                <a:latin typeface="Space Grotesk"/>
                <a:ea typeface="Space Grotesk"/>
              </a:rPr>
              <a:t>Crawl and extract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7"/>
          <p:cNvSpPr/>
          <p:nvPr/>
        </p:nvSpPr>
        <p:spPr>
          <a:xfrm>
            <a:off x="9458280" y="3450240"/>
            <a:ext cx="1717200" cy="71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82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BFC9DC"/>
                </a:solidFill>
                <a:effectLst/>
                <a:uFillTx/>
                <a:latin typeface="IBM Plex Sans"/>
                <a:ea typeface="IBM Plex Sans"/>
              </a:rPr>
              <a:t>Visit each company website, store jobs as structured data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9"/>
          <p:cNvSpPr/>
          <p:nvPr/>
        </p:nvSpPr>
        <p:spPr>
          <a:xfrm>
            <a:off x="914400" y="4800600"/>
            <a:ext cx="9829800" cy="6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55000" lnSpcReduction="19999"/>
          </a:bodyPr>
          <a:p>
            <a:pPr>
              <a:lnSpc>
                <a:spcPts val="4941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14213D"/>
                </a:solidFill>
                <a:effectLst/>
                <a:uFillTx/>
                <a:latin typeface="IBM Plex Sans"/>
                <a:ea typeface="IBM Plex Sans"/>
              </a:rPr>
              <a:t>We asked for company websites. It kept returning aggregators and job platforms instead, the very middlemen we want to avoid.</a:t>
            </a:r>
            <a:endParaRPr lang="en-US" sz="2000" b="0" u="none" strike="noStrike">
              <a:solidFill>
                <a:srgbClr val="14213D"/>
              </a:solidFill>
              <a:effectLst/>
              <a:uFillTx/>
              <a:latin typeface="IBM Plex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 0"/>
          <p:cNvSpPr/>
          <p:nvPr/>
        </p:nvSpPr>
        <p:spPr>
          <a:xfrm>
            <a:off x="812880" y="812880"/>
            <a:ext cx="108831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pc="150" strike="noStrike">
                <a:solidFill>
                  <a:srgbClr val="B85A24"/>
                </a:solidFill>
                <a:effectLst/>
                <a:uFillTx/>
                <a:latin typeface="JetBrains Mono"/>
                <a:ea typeface="JetBrains Mono"/>
              </a:rPr>
              <a:t>01 · DATA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12880" y="1127880"/>
            <a:ext cx="10883160" cy="52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96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rgbClr val="14213D"/>
                </a:solidFill>
                <a:effectLst/>
                <a:uFillTx/>
                <a:latin typeface="Space Grotesk"/>
                <a:ea typeface="Space Grotesk"/>
              </a:rPr>
              <a:t>Two data endpoints we found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IBM Plex Sans"/>
            </a:endParaRPr>
          </a:p>
        </p:txBody>
      </p:sp>
      <p:sp>
        <p:nvSpPr>
          <p:cNvPr id="54" name="Shape 2"/>
          <p:cNvSpPr/>
          <p:nvPr/>
        </p:nvSpPr>
        <p:spPr>
          <a:xfrm>
            <a:off x="812880" y="2036880"/>
            <a:ext cx="5155920" cy="4007880"/>
          </a:xfrm>
          <a:prstGeom prst="roundRect">
            <a:avLst>
              <a:gd name="adj" fmla="val 2535"/>
            </a:avLst>
          </a:prstGeom>
          <a:solidFill>
            <a:srgbClr val="1421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5" name="Image 0" descr="Database"/>
          <p:cNvPicPr/>
          <p:nvPr/>
        </p:nvPicPr>
        <p:blipFill>
          <a:blip r:embed="rId1"/>
          <a:stretch/>
        </p:blipFill>
        <p:spPr>
          <a:xfrm>
            <a:off x="1168560" y="239256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" name="Text 3"/>
          <p:cNvSpPr/>
          <p:nvPr/>
        </p:nvSpPr>
        <p:spPr>
          <a:xfrm>
            <a:off x="1168560" y="3027600"/>
            <a:ext cx="457812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639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7F5F0"/>
                </a:solidFill>
                <a:effectLst/>
                <a:uFillTx/>
                <a:latin typeface="Space Grotesk"/>
                <a:ea typeface="Space Grotesk"/>
              </a:rPr>
              <a:t>Wikidata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4"/>
          <p:cNvSpPr/>
          <p:nvPr/>
        </p:nvSpPr>
        <p:spPr>
          <a:xfrm>
            <a:off x="1168560" y="3540600"/>
            <a:ext cx="4444560" cy="416160"/>
          </a:xfrm>
          <a:prstGeom prst="roundRect">
            <a:avLst>
              <a:gd name="adj" fmla="val 12196"/>
            </a:avLst>
          </a:prstGeom>
          <a:solidFill>
            <a:srgbClr val="1E2F5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520" tIns="86760" rIns="13320" bIns="6120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07A3F"/>
                </a:solidFill>
                <a:effectLst/>
                <a:uFillTx/>
                <a:latin typeface="JetBrains Mono"/>
                <a:ea typeface="JetBrains Mono"/>
              </a:rPr>
              <a:t>https://query.wikidata.org/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5"/>
          <p:cNvSpPr/>
          <p:nvPr/>
        </p:nvSpPr>
        <p:spPr>
          <a:xfrm>
            <a:off x="1168560" y="4134960"/>
            <a:ext cx="4578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239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BFC9DC"/>
                </a:solidFill>
                <a:effectLst/>
                <a:uFillTx/>
                <a:latin typeface="IBM Plex Sans"/>
                <a:ea typeface="IBM Plex Sans"/>
              </a:rPr>
              <a:t>It returns trusted company data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6"/>
          <p:cNvSpPr/>
          <p:nvPr/>
        </p:nvSpPr>
        <p:spPr>
          <a:xfrm>
            <a:off x="6222960" y="2036880"/>
            <a:ext cx="5155920" cy="4007880"/>
          </a:xfrm>
          <a:prstGeom prst="roundRect">
            <a:avLst>
              <a:gd name="adj" fmla="val 2535"/>
            </a:avLst>
          </a:prstGeom>
          <a:solidFill>
            <a:srgbClr val="1421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0" name="Image 1" descr="Globe"/>
          <p:cNvPicPr/>
          <p:nvPr/>
        </p:nvPicPr>
        <p:blipFill>
          <a:blip r:embed="rId2"/>
          <a:stretch/>
        </p:blipFill>
        <p:spPr>
          <a:xfrm>
            <a:off x="6578640" y="239256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" name="Text 7"/>
          <p:cNvSpPr/>
          <p:nvPr/>
        </p:nvSpPr>
        <p:spPr>
          <a:xfrm>
            <a:off x="6578640" y="3027600"/>
            <a:ext cx="457812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639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7F5F0"/>
                </a:solidFill>
                <a:effectLst/>
                <a:uFillTx/>
                <a:latin typeface="Space Grotesk"/>
                <a:ea typeface="Space Grotesk"/>
              </a:rPr>
              <a:t>Companyenrich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8"/>
          <p:cNvSpPr/>
          <p:nvPr/>
        </p:nvSpPr>
        <p:spPr>
          <a:xfrm>
            <a:off x="6578640" y="3540600"/>
            <a:ext cx="4444560" cy="416160"/>
          </a:xfrm>
          <a:prstGeom prst="roundRect">
            <a:avLst>
              <a:gd name="adj" fmla="val 12196"/>
            </a:avLst>
          </a:prstGeom>
          <a:solidFill>
            <a:srgbClr val="1E2F5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520" tIns="86760" rIns="13320" bIns="6120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07A3F"/>
                </a:solidFill>
                <a:effectLst/>
                <a:uFillTx/>
                <a:latin typeface="JetBrains Mono"/>
                <a:ea typeface="JetBrains Mono"/>
              </a:rPr>
              <a:t>https://api.companyenrich.com/companies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9"/>
          <p:cNvSpPr/>
          <p:nvPr/>
        </p:nvSpPr>
        <p:spPr>
          <a:xfrm>
            <a:off x="6578640" y="4134960"/>
            <a:ext cx="457812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239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BFC9DC"/>
                </a:solidFill>
                <a:effectLst/>
                <a:uFillTx/>
                <a:latin typeface="IBM Plex Sans"/>
                <a:ea typeface="IBM Plex Sans"/>
              </a:rPr>
              <a:t>It returns exhaustive company metadata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0"/>
          <p:cNvSpPr/>
          <p:nvPr/>
        </p:nvSpPr>
        <p:spPr>
          <a:xfrm>
            <a:off x="816120" y="612720"/>
            <a:ext cx="6406920" cy="5632200"/>
          </a:xfrm>
          <a:prstGeom prst="roundRect">
            <a:avLst>
              <a:gd name="adj" fmla="val 1747"/>
            </a:avLst>
          </a:prstGeom>
          <a:solidFill>
            <a:srgbClr val="FFFFFF"/>
          </a:solidFill>
          <a:ln w="6350">
            <a:solidFill>
              <a:srgbClr val="E2DE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5" name="Image 0" descr="Entity-relationship diagram: users, user_profiles, user_preferences, user_skills, user_industries, skills, industries, locations, companies, company_skills, company_industries, company_locations"/>
          <p:cNvPicPr/>
          <p:nvPr/>
        </p:nvPicPr>
        <p:blipFill>
          <a:blip r:embed="rId1"/>
          <a:srcRect l="0" t="-3253" r="0" b="-3253"/>
          <a:stretch/>
        </p:blipFill>
        <p:spPr>
          <a:xfrm>
            <a:off x="971640" y="762120"/>
            <a:ext cx="6095520" cy="533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" name="Text 1"/>
          <p:cNvSpPr/>
          <p:nvPr/>
        </p:nvSpPr>
        <p:spPr>
          <a:xfrm>
            <a:off x="7632720" y="1699560"/>
            <a:ext cx="385848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pc="150" strike="noStrike">
                <a:solidFill>
                  <a:srgbClr val="B85A24"/>
                </a:solidFill>
                <a:effectLst/>
                <a:uFillTx/>
                <a:latin typeface="JetBrains Mono"/>
                <a:ea typeface="JetBrains Mono"/>
              </a:rPr>
              <a:t>01 · DATA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7632720" y="2014560"/>
            <a:ext cx="3858480" cy="52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96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rgbClr val="14213D"/>
                </a:solidFill>
                <a:effectLst/>
                <a:uFillTx/>
                <a:latin typeface="Space Grotesk"/>
                <a:ea typeface="Space Grotesk"/>
              </a:rPr>
              <a:t>Our data model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IBM Plex Sans"/>
            </a:endParaRPr>
          </a:p>
        </p:txBody>
      </p:sp>
      <p:sp>
        <p:nvSpPr>
          <p:cNvPr id="68" name="Text 3"/>
          <p:cNvSpPr/>
          <p:nvPr/>
        </p:nvSpPr>
        <p:spPr>
          <a:xfrm>
            <a:off x="7632720" y="2771280"/>
            <a:ext cx="385848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19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E07A3F"/>
                </a:solidFill>
                <a:effectLst/>
                <a:uFillTx/>
                <a:latin typeface="Space Grotesk"/>
                <a:ea typeface="Space Grotesk"/>
              </a:rPr>
              <a:t>Job seekers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4"/>
          <p:cNvSpPr/>
          <p:nvPr/>
        </p:nvSpPr>
        <p:spPr>
          <a:xfrm>
            <a:off x="7632720" y="3065760"/>
            <a:ext cx="3858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4A5568"/>
                </a:solidFill>
                <a:effectLst/>
                <a:uFillTx/>
                <a:latin typeface="IBM Plex Sans"/>
                <a:ea typeface="IBM Plex Sans"/>
              </a:rPr>
              <a:t>users, profiles and preferences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5"/>
          <p:cNvSpPr/>
          <p:nvPr/>
        </p:nvSpPr>
        <p:spPr>
          <a:xfrm>
            <a:off x="7632720" y="3568680"/>
            <a:ext cx="385848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19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3A6EA5"/>
                </a:solidFill>
                <a:effectLst/>
                <a:uFillTx/>
                <a:latin typeface="Space Grotesk"/>
                <a:ea typeface="Space Grotesk"/>
              </a:rPr>
              <a:t>Shared vocabulary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6"/>
          <p:cNvSpPr/>
          <p:nvPr/>
        </p:nvSpPr>
        <p:spPr>
          <a:xfrm>
            <a:off x="7632720" y="3863160"/>
            <a:ext cx="3858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4A5568"/>
                </a:solidFill>
                <a:effectLst/>
                <a:uFillTx/>
                <a:latin typeface="IBM Plex Sans"/>
                <a:ea typeface="IBM Plex Sans"/>
              </a:rPr>
              <a:t>skills, industries and locations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7"/>
          <p:cNvSpPr/>
          <p:nvPr/>
        </p:nvSpPr>
        <p:spPr>
          <a:xfrm>
            <a:off x="7632720" y="4366080"/>
            <a:ext cx="385848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19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4213D"/>
                </a:solidFill>
                <a:effectLst/>
                <a:uFillTx/>
                <a:latin typeface="Space Grotesk"/>
                <a:ea typeface="Space Grotesk"/>
              </a:rPr>
              <a:t>Companies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8"/>
          <p:cNvSpPr/>
          <p:nvPr/>
        </p:nvSpPr>
        <p:spPr>
          <a:xfrm>
            <a:off x="7632720" y="4660560"/>
            <a:ext cx="385848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4A5568"/>
                </a:solidFill>
                <a:effectLst/>
                <a:uFillTx/>
                <a:latin typeface="IBM Plex Sans"/>
                <a:ea typeface="IBM Plex Sans"/>
              </a:rPr>
              <a:t>linked to the same skills, industries and locations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DEA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 0"/>
          <p:cNvSpPr/>
          <p:nvPr/>
        </p:nvSpPr>
        <p:spPr>
          <a:xfrm>
            <a:off x="812880" y="812880"/>
            <a:ext cx="108831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pc="150" strike="noStrike">
                <a:solidFill>
                  <a:srgbClr val="2F5A88"/>
                </a:solidFill>
                <a:effectLst/>
                <a:uFillTx/>
                <a:latin typeface="JetBrains Mono"/>
                <a:ea typeface="JetBrains Mono"/>
              </a:rPr>
              <a:t>02 · ORGANIZATION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12880" y="1127880"/>
            <a:ext cx="10883160" cy="52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96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rgbClr val="14213D"/>
                </a:solidFill>
                <a:effectLst/>
                <a:uFillTx/>
                <a:latin typeface="Space Grotesk"/>
                <a:ea typeface="Space Grotesk"/>
              </a:rPr>
              <a:t>How we work together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IBM Plex Sans"/>
            </a:endParaRPr>
          </a:p>
        </p:txBody>
      </p:sp>
      <p:sp>
        <p:nvSpPr>
          <p:cNvPr id="76" name="Shape 2"/>
          <p:cNvSpPr/>
          <p:nvPr/>
        </p:nvSpPr>
        <p:spPr>
          <a:xfrm>
            <a:off x="812880" y="1986120"/>
            <a:ext cx="3386160" cy="1970640"/>
          </a:xfrm>
          <a:prstGeom prst="roundRect">
            <a:avLst>
              <a:gd name="adj" fmla="val 5155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7" name="Image 0" descr="Check"/>
          <p:cNvPicPr/>
          <p:nvPr/>
        </p:nvPicPr>
        <p:blipFill>
          <a:blip r:embed="rId1"/>
          <a:stretch/>
        </p:blipFill>
        <p:spPr>
          <a:xfrm>
            <a:off x="1092240" y="2265480"/>
            <a:ext cx="355320" cy="355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" name="Text 3"/>
          <p:cNvSpPr/>
          <p:nvPr/>
        </p:nvSpPr>
        <p:spPr>
          <a:xfrm>
            <a:off x="1092240" y="2748240"/>
            <a:ext cx="291240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401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4213D"/>
                </a:solidFill>
                <a:effectLst/>
                <a:uFillTx/>
                <a:latin typeface="Space Grotesk"/>
                <a:ea typeface="Space Grotesk"/>
              </a:rPr>
              <a:t>Tickets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4"/>
          <p:cNvSpPr/>
          <p:nvPr/>
        </p:nvSpPr>
        <p:spPr>
          <a:xfrm>
            <a:off x="1092240" y="3179880"/>
            <a:ext cx="2912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4A5568"/>
                </a:solidFill>
                <a:effectLst/>
                <a:uFillTx/>
                <a:latin typeface="IBM Plex Sans"/>
                <a:ea typeface="IBM Plex Sans"/>
              </a:rPr>
              <a:t>All work tracked as GitHub issues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5"/>
          <p:cNvSpPr/>
          <p:nvPr/>
        </p:nvSpPr>
        <p:spPr>
          <a:xfrm>
            <a:off x="4402800" y="1986120"/>
            <a:ext cx="3386520" cy="1970640"/>
          </a:xfrm>
          <a:prstGeom prst="roundRect">
            <a:avLst>
              <a:gd name="adj" fmla="val 5155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1" name="Image 1" descr="Book"/>
          <p:cNvPicPr/>
          <p:nvPr/>
        </p:nvPicPr>
        <p:blipFill>
          <a:blip r:embed="rId2"/>
          <a:stretch/>
        </p:blipFill>
        <p:spPr>
          <a:xfrm>
            <a:off x="4682160" y="2265480"/>
            <a:ext cx="355320" cy="355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" name="Text 6"/>
          <p:cNvSpPr/>
          <p:nvPr/>
        </p:nvSpPr>
        <p:spPr>
          <a:xfrm>
            <a:off x="4682160" y="2748240"/>
            <a:ext cx="291240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401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4213D"/>
                </a:solidFill>
                <a:effectLst/>
                <a:uFillTx/>
                <a:latin typeface="Space Grotesk"/>
                <a:ea typeface="Space Grotesk"/>
              </a:rPr>
              <a:t>Templates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7"/>
          <p:cNvSpPr/>
          <p:nvPr/>
        </p:nvSpPr>
        <p:spPr>
          <a:xfrm>
            <a:off x="4682160" y="3179880"/>
            <a:ext cx="291240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4A5568"/>
                </a:solidFill>
                <a:effectLst/>
                <a:uFillTx/>
                <a:latin typeface="IBM Plex Sans"/>
                <a:ea typeface="IBM Plex Sans"/>
              </a:rPr>
              <a:t>Issue template, PR template and a release PR template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8"/>
          <p:cNvSpPr/>
          <p:nvPr/>
        </p:nvSpPr>
        <p:spPr>
          <a:xfrm>
            <a:off x="7992720" y="1986120"/>
            <a:ext cx="3386160" cy="1970640"/>
          </a:xfrm>
          <a:prstGeom prst="roundRect">
            <a:avLst>
              <a:gd name="adj" fmla="val 5155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5" name="Image 2" descr="Code"/>
          <p:cNvPicPr/>
          <p:nvPr/>
        </p:nvPicPr>
        <p:blipFill>
          <a:blip r:embed="rId3"/>
          <a:stretch/>
        </p:blipFill>
        <p:spPr>
          <a:xfrm>
            <a:off x="8272080" y="2265480"/>
            <a:ext cx="355320" cy="355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" name="Text 9"/>
          <p:cNvSpPr/>
          <p:nvPr/>
        </p:nvSpPr>
        <p:spPr>
          <a:xfrm>
            <a:off x="8272080" y="2748240"/>
            <a:ext cx="291240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401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4213D"/>
                </a:solidFill>
                <a:effectLst/>
                <a:uFillTx/>
                <a:latin typeface="Space Grotesk"/>
                <a:ea typeface="Space Grotesk"/>
              </a:rPr>
              <a:t>Conventions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0"/>
          <p:cNvSpPr/>
          <p:nvPr/>
        </p:nvSpPr>
        <p:spPr>
          <a:xfrm>
            <a:off x="8272080" y="3179880"/>
            <a:ext cx="291240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4A5568"/>
                </a:solidFill>
                <a:effectLst/>
                <a:uFillTx/>
                <a:latin typeface="IBM Plex Sans"/>
                <a:ea typeface="IBM Plex Sans"/>
              </a:rPr>
              <a:t>Conventional Commits, PR titles linted in CI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11"/>
          <p:cNvSpPr/>
          <p:nvPr/>
        </p:nvSpPr>
        <p:spPr>
          <a:xfrm>
            <a:off x="812880" y="4312800"/>
            <a:ext cx="10566000" cy="654840"/>
          </a:xfrm>
          <a:prstGeom prst="roundRect">
            <a:avLst>
              <a:gd name="adj" fmla="val 15506"/>
            </a:avLst>
          </a:prstGeom>
          <a:solidFill>
            <a:srgbClr val="1421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2"/>
          <p:cNvSpPr/>
          <p:nvPr/>
        </p:nvSpPr>
        <p:spPr>
          <a:xfrm>
            <a:off x="1092240" y="4515840"/>
            <a:ext cx="1965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07A3F"/>
                </a:solidFill>
                <a:effectLst/>
                <a:uFillTx/>
                <a:latin typeface="JetBrains Mono"/>
                <a:ea typeface="JetBrains Mono"/>
              </a:rPr>
              <a:t>feature/* · fix/*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0" name="Image 3" descr="arrow-right"/>
          <p:cNvPicPr/>
          <p:nvPr/>
        </p:nvPicPr>
        <p:blipFill>
          <a:blip r:embed="rId4"/>
          <a:stretch/>
        </p:blipFill>
        <p:spPr>
          <a:xfrm>
            <a:off x="3058200" y="4551480"/>
            <a:ext cx="355320" cy="17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" name="Text 13"/>
          <p:cNvSpPr/>
          <p:nvPr/>
        </p:nvSpPr>
        <p:spPr>
          <a:xfrm>
            <a:off x="3566160" y="4515840"/>
            <a:ext cx="895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07A3F"/>
                </a:solidFill>
                <a:effectLst/>
                <a:uFillTx/>
                <a:latin typeface="JetBrains Mono"/>
                <a:ea typeface="JetBrains Mono"/>
              </a:rPr>
              <a:t>develop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2" name="Image 4" descr="arrow-right"/>
          <p:cNvPicPr/>
          <p:nvPr/>
        </p:nvPicPr>
        <p:blipFill>
          <a:blip r:embed="rId5"/>
          <a:stretch/>
        </p:blipFill>
        <p:spPr>
          <a:xfrm>
            <a:off x="4465440" y="4551480"/>
            <a:ext cx="355320" cy="17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" name="Text 14"/>
          <p:cNvSpPr/>
          <p:nvPr/>
        </p:nvSpPr>
        <p:spPr>
          <a:xfrm>
            <a:off x="4973400" y="4515840"/>
            <a:ext cx="511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07A3F"/>
                </a:solidFill>
                <a:effectLst/>
                <a:uFillTx/>
                <a:latin typeface="JetBrains Mono"/>
                <a:ea typeface="JetBrains Mono"/>
              </a:rPr>
              <a:t>main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5"/>
          <p:cNvSpPr/>
          <p:nvPr/>
        </p:nvSpPr>
        <p:spPr>
          <a:xfrm>
            <a:off x="7899840" y="4515840"/>
            <a:ext cx="3479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BFC9DC"/>
                </a:solidFill>
                <a:effectLst/>
                <a:uFillTx/>
                <a:latin typeface="IBM Plex Sans"/>
                <a:ea typeface="IBM Plex Sans"/>
              </a:rPr>
              <a:t>3 approvals per PR · protected branches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 0"/>
          <p:cNvSpPr/>
          <p:nvPr/>
        </p:nvSpPr>
        <p:spPr>
          <a:xfrm>
            <a:off x="812880" y="812880"/>
            <a:ext cx="108831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pc="150" strike="noStrike">
                <a:solidFill>
                  <a:srgbClr val="14213D"/>
                </a:solidFill>
                <a:effectLst/>
                <a:uFillTx/>
                <a:latin typeface="JetBrains Mono"/>
                <a:ea typeface="JetBrains Mono"/>
              </a:rPr>
              <a:t>03 · CODE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812880" y="1127880"/>
            <a:ext cx="10883160" cy="52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96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rgbClr val="14213D"/>
                </a:solidFill>
                <a:effectLst/>
                <a:uFillTx/>
                <a:latin typeface="Space Grotesk"/>
                <a:ea typeface="Space Grotesk"/>
              </a:rPr>
              <a:t>One monorepo, fully configured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IBM Plex Sans"/>
            </a:endParaRPr>
          </a:p>
        </p:txBody>
      </p:sp>
      <p:sp>
        <p:nvSpPr>
          <p:cNvPr id="97" name="Shape 2"/>
          <p:cNvSpPr/>
          <p:nvPr/>
        </p:nvSpPr>
        <p:spPr>
          <a:xfrm>
            <a:off x="812880" y="1986120"/>
            <a:ext cx="5206680" cy="4058640"/>
          </a:xfrm>
          <a:prstGeom prst="roundRect">
            <a:avLst>
              <a:gd name="adj" fmla="val 2503"/>
            </a:avLst>
          </a:prstGeom>
          <a:solidFill>
            <a:srgbClr val="1421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3"/>
          <p:cNvSpPr/>
          <p:nvPr/>
        </p:nvSpPr>
        <p:spPr>
          <a:xfrm>
            <a:off x="1117440" y="2291040"/>
            <a:ext cx="4735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07A3F"/>
                </a:solidFill>
                <a:effectLst/>
                <a:uFillTx/>
                <a:latin typeface="JetBrains Mono"/>
                <a:ea typeface="JetBrains Mono"/>
              </a:rPr>
              <a:t>job-scraper/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4"/>
          <p:cNvSpPr/>
          <p:nvPr/>
        </p:nvSpPr>
        <p:spPr>
          <a:xfrm>
            <a:off x="1117440" y="2666880"/>
            <a:ext cx="4735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7F5F0"/>
                </a:solidFill>
                <a:effectLst/>
                <a:uFillTx/>
                <a:latin typeface="JetBrains Mono"/>
                <a:ea typeface="JetBrains Mono"/>
              </a:rPr>
              <a:t>├─ apps/backend</a:t>
            </a:r>
            <a:r>
              <a:rPr lang="en-US" sz="1400" b="0" u="none" strike="noStrike">
                <a:solidFill>
                  <a:srgbClr val="8A9AB8"/>
                </a:solidFill>
                <a:effectLst/>
                <a:uFillTx/>
                <a:latin typeface="JetBrains Mono"/>
                <a:ea typeface="JetBrains Mono"/>
              </a:rPr>
              <a:t> NestJS API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5"/>
          <p:cNvSpPr/>
          <p:nvPr/>
        </p:nvSpPr>
        <p:spPr>
          <a:xfrm>
            <a:off x="1117440" y="3042720"/>
            <a:ext cx="4735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7F5F0"/>
                </a:solidFill>
                <a:effectLst/>
                <a:uFillTx/>
                <a:latin typeface="JetBrains Mono"/>
                <a:ea typeface="JetBrains Mono"/>
              </a:rPr>
              <a:t>├─ apps/frontend</a:t>
            </a:r>
            <a:r>
              <a:rPr lang="en-US" sz="1400" b="0" u="none" strike="noStrike">
                <a:solidFill>
                  <a:srgbClr val="8A9AB8"/>
                </a:solidFill>
                <a:effectLst/>
                <a:uFillTx/>
                <a:latin typeface="JetBrains Mono"/>
                <a:ea typeface="JetBrains Mono"/>
              </a:rPr>
              <a:t> Next.js UI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6"/>
          <p:cNvSpPr/>
          <p:nvPr/>
        </p:nvSpPr>
        <p:spPr>
          <a:xfrm>
            <a:off x="1117440" y="3418560"/>
            <a:ext cx="4735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7F5F0"/>
                </a:solidFill>
                <a:effectLst/>
                <a:uFillTx/>
                <a:latin typeface="JetBrains Mono"/>
                <a:ea typeface="JetBrains Mono"/>
              </a:rPr>
              <a:t>├─ packages/shared </a:t>
            </a:r>
            <a:r>
              <a:rPr lang="en-US" sz="1400" b="0" u="none" strike="noStrike">
                <a:solidFill>
                  <a:srgbClr val="8A9AB8"/>
                </a:solidFill>
                <a:effectLst/>
                <a:uFillTx/>
                <a:latin typeface="JetBrains Mono"/>
                <a:ea typeface="JetBrains Mono"/>
              </a:rPr>
              <a:t>shared code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7"/>
          <p:cNvSpPr/>
          <p:nvPr/>
        </p:nvSpPr>
        <p:spPr>
          <a:xfrm>
            <a:off x="1117440" y="3794400"/>
            <a:ext cx="4735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7F5F0"/>
                </a:solidFill>
                <a:effectLst/>
                <a:uFillTx/>
                <a:latin typeface="JetBrains Mono"/>
                <a:ea typeface="JetBrains Mono"/>
              </a:rPr>
              <a:t>├─ packages/* </a:t>
            </a:r>
            <a:r>
              <a:rPr lang="en-US" sz="1400" b="0" u="none" strike="noStrike">
                <a:solidFill>
                  <a:srgbClr val="8A9AB8"/>
                </a:solidFill>
                <a:effectLst/>
                <a:uFillTx/>
                <a:latin typeface="JetBrains Mono"/>
                <a:ea typeface="JetBrains Mono"/>
              </a:rPr>
              <a:t>tsconfig, eslint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8"/>
          <p:cNvSpPr/>
          <p:nvPr/>
        </p:nvSpPr>
        <p:spPr>
          <a:xfrm>
            <a:off x="1117440" y="4170240"/>
            <a:ext cx="4735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7F5F0"/>
                </a:solidFill>
                <a:effectLst/>
                <a:uFillTx/>
                <a:latin typeface="JetBrains Mono"/>
                <a:ea typeface="JetBrains Mono"/>
              </a:rPr>
              <a:t>└─ doc/ </a:t>
            </a:r>
            <a:r>
              <a:rPr lang="en-US" sz="1400" b="0" u="none" strike="noStrike">
                <a:solidFill>
                  <a:srgbClr val="8A9AB8"/>
                </a:solidFill>
                <a:effectLst/>
                <a:uFillTx/>
                <a:latin typeface="JetBrains Mono"/>
                <a:ea typeface="JetBrains Mono"/>
              </a:rPr>
              <a:t>roadmap, ADRs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9"/>
          <p:cNvSpPr/>
          <p:nvPr/>
        </p:nvSpPr>
        <p:spPr>
          <a:xfrm>
            <a:off x="6375240" y="2951640"/>
            <a:ext cx="5153400" cy="29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16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4213D"/>
                </a:solidFill>
                <a:effectLst/>
                <a:uFillTx/>
                <a:latin typeface="Space Grotesk"/>
                <a:ea typeface="Space Grotesk"/>
              </a:rPr>
              <a:t>pnpm + Turborepo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0"/>
          <p:cNvSpPr/>
          <p:nvPr/>
        </p:nvSpPr>
        <p:spPr>
          <a:xfrm>
            <a:off x="6375240" y="3276720"/>
            <a:ext cx="5153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4A5568"/>
                </a:solidFill>
                <a:effectLst/>
                <a:uFillTx/>
                <a:latin typeface="IBM Plex Sans"/>
                <a:ea typeface="IBM Plex Sans"/>
              </a:rPr>
              <a:t>One install, one dev command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11"/>
          <p:cNvSpPr/>
          <p:nvPr/>
        </p:nvSpPr>
        <p:spPr>
          <a:xfrm>
            <a:off x="6375240" y="3728880"/>
            <a:ext cx="5153400" cy="29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16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4213D"/>
                </a:solidFill>
                <a:effectLst/>
                <a:uFillTx/>
                <a:latin typeface="Space Grotesk"/>
                <a:ea typeface="Space Grotesk"/>
              </a:rPr>
              <a:t>Strict TypeScript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12"/>
          <p:cNvSpPr/>
          <p:nvPr/>
        </p:nvSpPr>
        <p:spPr>
          <a:xfrm>
            <a:off x="6375240" y="4053960"/>
            <a:ext cx="5153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4A5568"/>
                </a:solidFill>
                <a:effectLst/>
                <a:uFillTx/>
                <a:latin typeface="IBM Plex Sans"/>
                <a:ea typeface="IBM Plex Sans"/>
              </a:rPr>
              <a:t>Shared lint and format presets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13"/>
          <p:cNvSpPr/>
          <p:nvPr/>
        </p:nvSpPr>
        <p:spPr>
          <a:xfrm>
            <a:off x="6375240" y="4505760"/>
            <a:ext cx="5153400" cy="29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16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4213D"/>
                </a:solidFill>
                <a:effectLst/>
                <a:uFillTx/>
                <a:latin typeface="Space Grotesk"/>
                <a:ea typeface="Space Grotesk"/>
              </a:rPr>
              <a:t>Quality gates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14"/>
          <p:cNvSpPr/>
          <p:nvPr/>
        </p:nvSpPr>
        <p:spPr>
          <a:xfrm>
            <a:off x="6375240" y="4830840"/>
            <a:ext cx="5153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4A5568"/>
                </a:solidFill>
                <a:effectLst/>
                <a:uFillTx/>
                <a:latin typeface="IBM Plex Sans"/>
                <a:ea typeface="IBM Plex Sans"/>
              </a:rPr>
              <a:t>Pre-commit hook, </a:t>
            </a:r>
            <a:r>
              <a:rPr lang="en-US" sz="1400" b="0" u="none" strike="noStrike">
                <a:solidFill>
                  <a:srgbClr val="B85A24"/>
                </a:solidFill>
                <a:effectLst/>
                <a:uFillTx/>
                <a:latin typeface="IBM Plex Sans"/>
                <a:ea typeface="IBM Plex Sans"/>
              </a:rPr>
              <a:t>pnpm check</a:t>
            </a:r>
            <a:r>
              <a:rPr lang="en-US" sz="1400" b="0" u="none" strike="noStrike">
                <a:solidFill>
                  <a:srgbClr val="4A5568"/>
                </a:solidFill>
                <a:effectLst/>
                <a:uFillTx/>
                <a:latin typeface="IBM Plex Sans"/>
                <a:ea typeface="IBM Plex Sans"/>
              </a:rPr>
              <a:t>, CI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 0"/>
          <p:cNvSpPr/>
          <p:nvPr/>
        </p:nvSpPr>
        <p:spPr>
          <a:xfrm>
            <a:off x="812880" y="812880"/>
            <a:ext cx="108831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pc="150" strike="noStrike">
                <a:solidFill>
                  <a:srgbClr val="14213D"/>
                </a:solidFill>
                <a:effectLst/>
                <a:uFillTx/>
                <a:latin typeface="JetBrains Mono"/>
                <a:ea typeface="JetBrains Mono"/>
              </a:rPr>
              <a:t>03 · CODE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812880" y="1127880"/>
            <a:ext cx="10883160" cy="52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96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rgbClr val="14213D"/>
                </a:solidFill>
                <a:effectLst/>
                <a:uFillTx/>
                <a:latin typeface="Space Grotesk"/>
                <a:ea typeface="Space Grotesk"/>
              </a:rPr>
              <a:t>Two skeleton apps, up and running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IBM Plex Sans"/>
            </a:endParaRPr>
          </a:p>
        </p:txBody>
      </p:sp>
      <p:sp>
        <p:nvSpPr>
          <p:cNvPr id="112" name="Shape 2"/>
          <p:cNvSpPr/>
          <p:nvPr/>
        </p:nvSpPr>
        <p:spPr>
          <a:xfrm>
            <a:off x="816120" y="2874600"/>
            <a:ext cx="4374720" cy="2332440"/>
          </a:xfrm>
          <a:prstGeom prst="roundRect">
            <a:avLst>
              <a:gd name="adj" fmla="val 4219"/>
            </a:avLst>
          </a:prstGeom>
          <a:solidFill>
            <a:srgbClr val="FFFFFF"/>
          </a:solidFill>
          <a:ln w="6350">
            <a:solidFill>
              <a:srgbClr val="E2DE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3"/>
          <p:cNvSpPr/>
          <p:nvPr/>
        </p:nvSpPr>
        <p:spPr>
          <a:xfrm>
            <a:off x="1123920" y="3182760"/>
            <a:ext cx="387144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B85A24"/>
                </a:solidFill>
                <a:effectLst/>
                <a:uFillTx/>
                <a:latin typeface="JetBrains Mono"/>
                <a:ea typeface="JetBrains Mono"/>
              </a:rPr>
              <a:t>apps/frontend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4"/>
          <p:cNvSpPr/>
          <p:nvPr/>
        </p:nvSpPr>
        <p:spPr>
          <a:xfrm>
            <a:off x="1123920" y="3548520"/>
            <a:ext cx="3871440" cy="42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3121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4213D"/>
                </a:solidFill>
                <a:effectLst/>
                <a:uFillTx/>
                <a:latin typeface="Space Grotesk"/>
                <a:ea typeface="Space Grotesk"/>
              </a:rPr>
              <a:t>Next.js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5"/>
          <p:cNvSpPr/>
          <p:nvPr/>
        </p:nvSpPr>
        <p:spPr>
          <a:xfrm>
            <a:off x="1123920" y="4096800"/>
            <a:ext cx="3871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4A5568"/>
                </a:solidFill>
                <a:effectLst/>
                <a:uFillTx/>
                <a:latin typeface="IBM Plex Sans"/>
                <a:ea typeface="IBM Plex Sans"/>
              </a:rPr>
              <a:t>https://job-scraper-capstone.vercel.app/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6"/>
          <p:cNvSpPr/>
          <p:nvPr/>
        </p:nvSpPr>
        <p:spPr>
          <a:xfrm>
            <a:off x="1123920" y="4498200"/>
            <a:ext cx="1848600" cy="401040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rmAutofit/>
          </a:bodyPr>
          <a:p>
            <a:pPr algn="ctr"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7F5F0"/>
                </a:solidFill>
                <a:effectLst/>
                <a:uFillTx/>
                <a:latin typeface="IBM Plex Sans"/>
                <a:ea typeface="IBM Plex Sans"/>
              </a:rPr>
              <a:t>Deployed to Vercel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7" name="Image 0" descr="arrow-right"/>
          <p:cNvPicPr/>
          <p:nvPr/>
        </p:nvPicPr>
        <p:blipFill>
          <a:blip r:embed="rId1"/>
          <a:stretch/>
        </p:blipFill>
        <p:spPr>
          <a:xfrm>
            <a:off x="5740560" y="3627000"/>
            <a:ext cx="711000" cy="355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" name="Text 7"/>
          <p:cNvSpPr/>
          <p:nvPr/>
        </p:nvSpPr>
        <p:spPr>
          <a:xfrm>
            <a:off x="5372280" y="4059000"/>
            <a:ext cx="1447560" cy="42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ts val="1559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A5568"/>
                </a:solidFill>
                <a:effectLst/>
                <a:uFillTx/>
                <a:latin typeface="IBM Plex Sans"/>
                <a:ea typeface="IBM Plex Sans"/>
              </a:rPr>
              <a:t>server-to-server calls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8"/>
          <p:cNvSpPr/>
          <p:nvPr/>
        </p:nvSpPr>
        <p:spPr>
          <a:xfrm>
            <a:off x="7000920" y="2874600"/>
            <a:ext cx="4374720" cy="2332440"/>
          </a:xfrm>
          <a:prstGeom prst="roundRect">
            <a:avLst>
              <a:gd name="adj" fmla="val 4219"/>
            </a:avLst>
          </a:prstGeom>
          <a:solidFill>
            <a:srgbClr val="FFFFFF"/>
          </a:solidFill>
          <a:ln w="6350">
            <a:solidFill>
              <a:srgbClr val="E2DE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9"/>
          <p:cNvSpPr/>
          <p:nvPr/>
        </p:nvSpPr>
        <p:spPr>
          <a:xfrm>
            <a:off x="7308720" y="3182760"/>
            <a:ext cx="387144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F5A88"/>
                </a:solidFill>
                <a:effectLst/>
                <a:uFillTx/>
                <a:latin typeface="JetBrains Mono"/>
                <a:ea typeface="JetBrains Mono"/>
              </a:rPr>
              <a:t>apps/backend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0"/>
          <p:cNvSpPr/>
          <p:nvPr/>
        </p:nvSpPr>
        <p:spPr>
          <a:xfrm>
            <a:off x="7308720" y="3548520"/>
            <a:ext cx="3871440" cy="42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3121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4213D"/>
                </a:solidFill>
                <a:effectLst/>
                <a:uFillTx/>
                <a:latin typeface="Space Grotesk"/>
                <a:ea typeface="Space Grotesk"/>
              </a:rPr>
              <a:t>NestJS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1"/>
          <p:cNvSpPr/>
          <p:nvPr/>
        </p:nvSpPr>
        <p:spPr>
          <a:xfrm>
            <a:off x="7308720" y="4096800"/>
            <a:ext cx="3871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92500" lnSpcReduction="9999"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4A5568"/>
                </a:solidFill>
                <a:effectLst/>
                <a:uFillTx/>
                <a:latin typeface="IBM Plex Sans"/>
                <a:ea typeface="IBM Plex Sans"/>
              </a:rPr>
              <a:t>https://job-scraper-backend-314v.onrender.com/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2"/>
          <p:cNvSpPr/>
          <p:nvPr/>
        </p:nvSpPr>
        <p:spPr>
          <a:xfrm>
            <a:off x="7308720" y="4498200"/>
            <a:ext cx="2312640" cy="401040"/>
          </a:xfrm>
          <a:prstGeom prst="roundRect">
            <a:avLst>
              <a:gd name="adj" fmla="val 50000"/>
            </a:avLst>
          </a:prstGeom>
          <a:solidFill>
            <a:srgbClr val="EDEAE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rmAutofit/>
          </a:bodyPr>
          <a:p>
            <a:pPr algn="ctr"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4213D"/>
                </a:solidFill>
                <a:effectLst/>
                <a:uFillTx/>
                <a:latin typeface="IBM Plex Sans"/>
                <a:ea typeface="IBM Plex Sans"/>
              </a:rPr>
              <a:t>Deployed to Render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 0"/>
          <p:cNvSpPr/>
          <p:nvPr/>
        </p:nvSpPr>
        <p:spPr>
          <a:xfrm>
            <a:off x="812880" y="2237760"/>
            <a:ext cx="606924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pc="150" strike="noStrike">
                <a:solidFill>
                  <a:srgbClr val="E07A3F"/>
                </a:solidFill>
                <a:effectLst/>
                <a:uFillTx/>
                <a:latin typeface="JetBrains Mono"/>
                <a:ea typeface="JetBrains Mono"/>
              </a:rPr>
              <a:t>UP NEXT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"/>
          <p:cNvSpPr/>
          <p:nvPr/>
        </p:nvSpPr>
        <p:spPr>
          <a:xfrm>
            <a:off x="812880" y="2654280"/>
            <a:ext cx="606924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396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7F5F0"/>
                </a:solidFill>
                <a:effectLst/>
                <a:uFillTx/>
                <a:latin typeface="Space Grotesk"/>
                <a:ea typeface="Space Grotesk"/>
              </a:rPr>
              <a:t>Next sprint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2"/>
          <p:cNvSpPr/>
          <p:nvPr/>
        </p:nvSpPr>
        <p:spPr>
          <a:xfrm>
            <a:off x="812880" y="3360240"/>
            <a:ext cx="606924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239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BFC9DC"/>
                </a:solidFill>
                <a:effectLst/>
                <a:uFillTx/>
                <a:latin typeface="IBM Plex Sans"/>
                <a:ea typeface="IBM Plex Sans"/>
              </a:rPr>
              <a:t>Advance UI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3"/>
          <p:cNvSpPr/>
          <p:nvPr/>
        </p:nvSpPr>
        <p:spPr>
          <a:xfrm>
            <a:off x="812880" y="3848040"/>
            <a:ext cx="606924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239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BFC9DC"/>
                </a:solidFill>
                <a:effectLst/>
                <a:uFillTx/>
                <a:latin typeface="IBM Plex Sans"/>
                <a:ea typeface="IBM Plex Sans"/>
              </a:rPr>
              <a:t>Finalize Database Schema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4"/>
          <p:cNvSpPr/>
          <p:nvPr/>
        </p:nvSpPr>
        <p:spPr>
          <a:xfrm>
            <a:off x="812880" y="4335840"/>
            <a:ext cx="606924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239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600" b="0" u="none" strike="noStrike">
                <a:solidFill>
                  <a:srgbClr val="BFC9DC"/>
                </a:solidFill>
                <a:effectLst/>
                <a:uFillTx/>
                <a:latin typeface="IBM Plex Sans"/>
                <a:ea typeface="IBM Plex Sans"/>
              </a:rPr>
              <a:t>Finishing proof of concept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7315200" y="2395080"/>
            <a:ext cx="4185720" cy="1549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6001"/>
              </a:lnSpc>
              <a:buNone/>
              <a:tabLst>
                <a:tab pos="0" algn="l"/>
              </a:tabLst>
            </a:pPr>
            <a:r>
              <a:rPr lang="en-US" sz="6000" b="1" u="none" strike="noStrike">
                <a:solidFill>
                  <a:srgbClr val="E07A3F"/>
                </a:solidFill>
                <a:effectLst/>
                <a:uFillTx/>
                <a:latin typeface="Space Grotesk"/>
                <a:ea typeface="Space Grotesk"/>
              </a:rPr>
              <a:t>Thank you.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IBM Plex Sans"/>
            </a:endParaRPr>
          </a:p>
        </p:txBody>
      </p:sp>
      <p:sp>
        <p:nvSpPr>
          <p:cNvPr id="130" name="Text 6"/>
          <p:cNvSpPr/>
          <p:nvPr/>
        </p:nvSpPr>
        <p:spPr>
          <a:xfrm>
            <a:off x="7315200" y="4071600"/>
            <a:ext cx="4185720" cy="41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3081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F7F5F0"/>
                </a:solidFill>
                <a:effectLst/>
                <a:uFillTx/>
                <a:latin typeface="IBM Plex Sans"/>
                <a:ea typeface="IBM Plex Sans"/>
              </a:rPr>
              <a:t>Questions?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JobScraper Sprint Review">
  <a:themeElements>
    <a:clrScheme name="JobScraper Sprint Review">
      <a:dk1>
        <a:srgbClr val="14213D"/>
      </a:dk1>
      <a:lt1>
        <a:srgbClr val="F7F5F0"/>
      </a:lt1>
      <a:dk2>
        <a:srgbClr val="4D566A"/>
      </a:dk2>
      <a:lt2>
        <a:srgbClr val="E0E0DE"/>
      </a:lt2>
      <a:accent1>
        <a:srgbClr val="E07A3F"/>
      </a:accent1>
      <a:accent2>
        <a:srgbClr val="B85A24"/>
      </a:accent2>
      <a:accent3>
        <a:srgbClr val="3A6EA5"/>
      </a:accent3>
      <a:accent4>
        <a:srgbClr val="2F5A88"/>
      </a:accent4>
      <a:accent5>
        <a:srgbClr val="4A5568"/>
      </a:accent5>
      <a:accent6>
        <a:srgbClr val="BFC9DC"/>
      </a:accent6>
      <a:hlink>
        <a:srgbClr val="0563C1"/>
      </a:hlink>
      <a:folHlink>
        <a:srgbClr val="954F72"/>
      </a:folHlink>
    </a:clrScheme>
    <a:fontScheme name="JobScraper Sprint Review">
      <a:majorFont>
        <a:latin typeface="Space Grotesk" pitchFamily="0" charset="1"/>
        <a:ea typeface=""/>
        <a:cs typeface=""/>
      </a:majorFont>
      <a:minorFont>
        <a:latin typeface="IBM Plex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LibreOffice/26.2.6.3$Linux_X86_64 LibreOffice_project/620$Build-3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2026-10-09T08:33:38Z</dcterms:created>
  <dc:creator/>
  <dc:description/>
  <dc:language>en-US</dc:language>
  <cp:lastModifiedBy/>
  <dcterms:modified xsi:type="dcterms:W3CDTF">2026-10-09T10:51:56Z</dcterms:modified>
  <cp:revision>4</cp:revision>
  <dc:subject/>
  <dc:title>JobScraper Sprint Review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11</vt:i4>
  </property>
  <property fmtid="{D5CDD505-2E9C-101B-9397-08002B2CF9AE}" pid="3" name="PresentationFormat">
    <vt:lpwstr>On-screen Show (16:9)</vt:lpwstr>
  </property>
  <property fmtid="{D5CDD505-2E9C-101B-9397-08002B2CF9AE}" pid="4" name="Slides">
    <vt:i4>11</vt:i4>
  </property>
</Properties>
</file>